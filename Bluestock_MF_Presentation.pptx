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9" r:id="rId12"/>
    <p:sldId id="265" r:id="rId13"/>
    <p:sldId id="270" r:id="rId14"/>
    <p:sldId id="266" r:id="rId15"/>
    <p:sldId id="26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056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189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6935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117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92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073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941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552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575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311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763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010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End-to-End Mutual Fund Analytics &amp; Risk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t>Capstone Project Portfolio Milestone</a:t>
            </a:r>
          </a:p>
          <a:p>
            <a:r>
              <a:t>Presenter: Mahima Subhash Bhoite</a:t>
            </a:r>
          </a:p>
          <a:p>
            <a:r>
              <a:t>Date: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Problem:</a:t>
            </a:r>
          </a:p>
          <a:p>
            <a:pPr lvl="1"/>
            <a:r>
              <a:t>• Financial analysts face data fragmentation when looking at historical NAV alongside investor behavior.</a:t>
            </a:r>
          </a:p>
          <a:p>
            <a:r>
              <a:t>Project Objectives:</a:t>
            </a:r>
          </a:p>
          <a:p>
            <a:pPr lvl="1"/>
            <a:r>
              <a:t>• Establish an automated, multi-source Python ETL pipeline.</a:t>
            </a:r>
            <a:br/>
            <a:r>
              <a:t>• Quantify tail risk using Historical VaR and CVaR (95%).</a:t>
            </a:r>
            <a:br/>
            <a:r>
              <a:t>• Deliver an interactive Power BI dashboard tracking asset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Architecture &amp; Pipeline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Lifecycle Phases:</a:t>
            </a:r>
          </a:p>
          <a:p>
            <a:pPr lvl="1"/>
            <a:r>
              <a:t>1. Ingestion: Automated extraction of messy historical NAV logs and multi-variant transactions.</a:t>
            </a:r>
          </a:p>
          <a:p>
            <a:pPr lvl="1"/>
            <a:r>
              <a:t>2. Processing: Data cleaning, anomaly handling, and relational constraint enforcement via Pandas.</a:t>
            </a:r>
          </a:p>
          <a:p>
            <a:pPr lvl="1"/>
            <a:r>
              <a:t>3. Storage: Structured output exported to processed CSV databases.</a:t>
            </a:r>
          </a:p>
          <a:p>
            <a:pPr lvl="1"/>
            <a:r>
              <a:t>4. Presentation: Visual consumption via interactive business intelligence tools.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ETL Operational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Engineering Wins:</a:t>
            </a:r>
          </a:p>
          <a:p>
            <a:r>
              <a:t>• Rogue Data Containment: Mitigated structural file anomalies using selective string parsing and robust row-skipping tools (on_bad_lines='skip').</a:t>
            </a:r>
          </a:p>
          <a:p>
            <a:r>
              <a:t>• Relational Integrity: Synced isolated transaction datasets directly to core master sheets using relational AMFI codes.</a:t>
            </a:r>
          </a:p>
          <a:p>
            <a:r>
              <a:t>• Feature Engineering: Transformed static NAV records into daily percentage return metrics for downstream risk processing.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 1: Fund Performance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Structural Insights:</a:t>
            </a:r>
          </a:p>
          <a:p>
            <a:r>
              <a:t>• Cleansed datasets confirm significant tracking variance across 40 mutual fund schemes.</a:t>
            </a:r>
          </a:p>
          <a:p>
            <a:r>
              <a:t>• Flagship equity assets exhibit high market concentration parameters.</a:t>
            </a:r>
          </a:p>
          <a:p>
            <a:r>
              <a:t>• [Placeholder: Insert Performance Chart from Notebook]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 2: Investor Behavioral Cohorts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Behavioral Trends:</a:t>
            </a:r>
          </a:p>
          <a:p>
            <a:r>
              <a:t>• Onboarding Segments: Grouped users by initial transaction year to track capital retention rates.</a:t>
            </a:r>
          </a:p>
          <a:p>
            <a:r>
              <a:t>• Volume Drivers: Legacy cohorts contribute a substantial share of recurring SIP capital.</a:t>
            </a:r>
          </a:p>
          <a:p>
            <a:r>
              <a:t>• Structural Shifts: Asset preference matrices show sharp divergence between newer and long-term investors.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Analytics: Downside Risk Quantification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Metric Formulations:</a:t>
            </a:r>
          </a:p>
          <a:p>
            <a:r>
              <a:t>• Historical VaR (95%): Establishes the 5th percentile of daily market returns, indicating the baseline boundary for expected losses.</a:t>
            </a:r>
          </a:p>
          <a:p>
            <a:r>
              <a:t>• Conditional VaR (95% CVaR): Computes the true expected shortfall by taking the average of all returns breaching the VaR threshold.</a:t>
            </a:r>
          </a:p>
          <a:p>
            <a:r>
              <a:t>• Operational Storage: Calculations run seamlessly across all active models and auto-export to reports/var_cvar_report.csv.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Analytics: 90-Day Rolling Sharpe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Volatility Mapping:</a:t>
            </a:r>
          </a:p>
          <a:p>
            <a:r>
              <a:rPr dirty="0"/>
              <a:t>• Risk-Adjusted Tracking: Evaluated rolling consistency over time using (Rolling Mean / Rolling </a:t>
            </a:r>
            <a:r>
              <a:rPr dirty="0" err="1"/>
              <a:t>Std</a:t>
            </a:r>
            <a:r>
              <a:rPr dirty="0"/>
              <a:t>) x </a:t>
            </a:r>
            <a:r>
              <a:rPr dirty="0" err="1"/>
              <a:t>sqrt</a:t>
            </a:r>
            <a:r>
              <a:rPr dirty="0"/>
              <a:t>(252).</a:t>
            </a:r>
          </a:p>
          <a:p>
            <a:r>
              <a:rPr dirty="0"/>
              <a:t>• Core Findings: Flagship trackers show durable stability, while speculative sectors reveal sharp performance decay during market corrections</a:t>
            </a:r>
            <a:r>
              <a:rPr dirty="0" smtClean="0"/>
              <a:t>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Rolling_shape_chart.png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325" y="2261185"/>
            <a:ext cx="7543800" cy="319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357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 Showcase: Executive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System Overview Monitoring:</a:t>
            </a:r>
          </a:p>
          <a:p>
            <a:r>
              <a:rPr dirty="0"/>
              <a:t>• High-level macro views mapping total Assets Under Management (AUM) and total user footprint changes.</a:t>
            </a:r>
          </a:p>
          <a:p>
            <a:r>
              <a:rPr dirty="0"/>
              <a:t>• Scalable layout optimized with clean, action-oriented KPI cards for rapid executive oversight</a:t>
            </a:r>
            <a:r>
              <a:rPr dirty="0" smtClean="0"/>
              <a:t>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dashboard page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5775" y="2209716"/>
            <a:ext cx="5816899" cy="329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805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Power BI Dashboard Showcase: Granular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Interactivity Highlights:</a:t>
            </a:r>
          </a:p>
          <a:p>
            <a:r>
              <a:rPr dirty="0"/>
              <a:t>• Integrated slicer panels allowing zero-latency filtering across date brackets, asset class, and risk categories.</a:t>
            </a:r>
          </a:p>
          <a:p>
            <a:r>
              <a:rPr dirty="0"/>
              <a:t>• Embedded churn detection monitors for immediate account risk evaluation</a:t>
            </a:r>
            <a:r>
              <a:rPr dirty="0" smtClean="0"/>
              <a:t>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Filtered dashboard deep dive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7052" y="2197015"/>
            <a:ext cx="5734345" cy="332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42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Conclusions &amp; Action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Operational Strategies:</a:t>
            </a:r>
          </a:p>
          <a:p>
            <a:r>
              <a:t>• Risk Mitigation: Enforce strict sector caps on highly concentrated (high HHI) profiles to mitigate volatility.</a:t>
            </a:r>
          </a:p>
          <a:p>
            <a:r>
              <a:t>• Retentive Engagement: Flag at-risk SIP accounts with payment gaps over 35 days for automated customer service outreach.</a:t>
            </a:r>
          </a:p>
          <a:p>
            <a:r>
              <a:t>• Product Engineering: Implement recommender.py's sorting logic directly into retail interfaces to drive personalized discovery.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Status &amp; Closing (Q&amp;A)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Deployment Summary:</a:t>
            </a:r>
          </a:p>
          <a:p>
            <a:r>
              <a:t>• Production Status: Release Build v1.0 Live.</a:t>
            </a:r>
          </a:p>
          <a:p>
            <a:r>
              <a:t>• Version Control: Fully committed, clean, tagged environment successfully deployed on GitHub.</a:t>
            </a:r>
          </a:p>
          <a:p>
            <a:r>
              <a:t>• Thank you! Open for technical, architectural, or analytics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</TotalTime>
  <Words>621</Words>
  <Application>Microsoft Office PowerPoint</Application>
  <PresentationFormat>On-screen Show (4:3)</PresentationFormat>
  <Paragraphs>60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Calibri</vt:lpstr>
      <vt:lpstr>Calibri Light</vt:lpstr>
      <vt:lpstr>Retrospect</vt:lpstr>
      <vt:lpstr>End-to-End Mutual Fund Analytics &amp; Risk Engine</vt:lpstr>
      <vt:lpstr>Problem Statement &amp; Project Objectives</vt:lpstr>
      <vt:lpstr>Data Architecture &amp; Pipeline Flow</vt:lpstr>
      <vt:lpstr>Data Cleaning &amp; ETL Operational Highlights</vt:lpstr>
      <vt:lpstr>EDA Highlight 1: Fund Performance Overview</vt:lpstr>
      <vt:lpstr>EDA Highlight 2: Investor Behavioral Cohorts</vt:lpstr>
      <vt:lpstr>Advanced Analytics: Downside Risk Quantification</vt:lpstr>
      <vt:lpstr>Advanced Analytics: 90-Day Rolling Sharpe Analysis</vt:lpstr>
      <vt:lpstr>Rolling_shape_chart.png</vt:lpstr>
      <vt:lpstr>Power BI Dashboard Showcase: Executive View</vt:lpstr>
      <vt:lpstr>Main dashboard page</vt:lpstr>
      <vt:lpstr>Power BI Dashboard Showcase: Granular Deep Dive</vt:lpstr>
      <vt:lpstr>Filtered dashboard deep dive</vt:lpstr>
      <vt:lpstr>Strategic Conclusions &amp; Action Plan</vt:lpstr>
      <vt:lpstr>Architecture Status &amp; Closing (Q&amp;A)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End-to-End Mutual Fund Analytics &amp; Risk Engine</dc:title>
  <dc:subject/>
  <dc:creator/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2026-06-12T16:38:07Z</dcterms:modified>
  <cp:category/>
</cp:coreProperties>
</file>